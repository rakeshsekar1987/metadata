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payoff plan (month-wise summary)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Start: Mar 2026 | EMI ₹3,00,000/month starts Apr 2026 | Prepay: ₹1,00,000 every Feb + ₹5,00,000 every Oct | Disbursal: ₹1.5Cr now, +₹1Cr in Mar 2028 | Rate 7.54% p.a.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Interest rate: 7.54% p.a. (monthly reducing)</a:t>
            </a:r>
          </a:p>
          <a:p>
            <a:pPr>
              <a:defRPr sz="1800"/>
            </a:pPr>
            <a:r>
              <a:t>Disbursal: ₹1.5Cr in Mar 2026, +₹1Cr in Mar 2028</a:t>
            </a:r>
          </a:p>
          <a:p>
            <a:pPr>
              <a:defRPr sz="1800"/>
            </a:pPr>
            <a:r>
              <a:t>EMI: ₹3,00,000/month starting Apr 2026</a:t>
            </a:r>
          </a:p>
          <a:p>
            <a:pPr>
              <a:defRPr sz="1800"/>
            </a:pPr>
            <a:r>
              <a:t>Prepay: ₹1,00,000 each Feb + ₹5,00,000 each Oct (after EMI)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Projected closure: Sep 2033 (month 91) ≈ 7.58 years</a:t>
            </a:r>
          </a:p>
          <a:p>
            <a:pPr>
              <a:defRPr sz="1800"/>
            </a:pPr>
            <a:r>
              <a:t>Total principal: ₹25,000,000</a:t>
            </a:r>
          </a:p>
          <a:p>
            <a:pPr>
              <a:defRPr sz="1800"/>
            </a:pPr>
            <a:r>
              <a:t>Total paid (EMI + prepay): ₹31,106,737</a:t>
            </a:r>
          </a:p>
          <a:p>
            <a:pPr>
              <a:defRPr sz="1800"/>
            </a:pPr>
            <a:r>
              <a:t>Total interest paid (approx.): ₹6,106,737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Outstanding balance trajectory</a:t>
            </a:r>
          </a:p>
        </p:txBody>
      </p:sp>
      <p:pic>
        <p:nvPicPr>
          <p:cNvPr id="3" name="Picture 2" descr="outstanding_balance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72800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Month-wise summary (part 1/3)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179576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470"/>
                <a:gridCol w="1474470"/>
                <a:gridCol w="1474470"/>
                <a:gridCol w="1474470"/>
                <a:gridCol w="1474470"/>
                <a:gridCol w="1474470"/>
                <a:gridCol w="1474470"/>
                <a:gridCol w="1474470"/>
              </a:tblGrid>
              <a:tr h="174307"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Disb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Prepay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Closing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₹94,250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₹15,094,250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₹15,094,250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₹94,842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₹14,889,092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₹14,889,092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₹93,553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₹14,682,645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₹14,682,645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₹92,256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₹14,474,901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₹14,474,901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₹90,951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₹14,265,852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Aug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₹14,265,852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₹89,637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₹14,055,489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₹14,055,489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₹88,315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₹13,843,804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Oct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₹13,843,804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₹86,985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₹13,130,790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Nov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₹13,130,790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₹82,505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₹12,913,295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Dec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₹12,913,295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₹81,139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₹12,694,433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Jan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₹12,694,433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₹79,763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₹12,474,197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Feb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₹12,474,197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₹78,380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₹12,152,576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Mar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₹12,152,576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₹76,359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₹11,928,935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Apr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₹11,928,935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₹74,953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₹11,703,888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May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₹11,703,888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₹73,539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₹11,477,428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Jun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₹11,477,428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₹72,117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₹11,249,544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Jul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₹11,249,544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₹70,685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₹11,020,229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Aug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₹11,020,229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₹69,244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₹10,789,473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Sep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₹10,789,473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₹67,794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₹10,557,266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Oct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₹10,557,266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₹66,335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₹9,823,601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Nov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₹9,823,601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₹61,725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₹9,585,326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Dec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₹9,585,326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₹60,228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₹9,345,554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Jan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₹9,345,554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₹58,721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₹9,104,275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Feb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₹9,104,275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₹57,205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₹8,761,481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Mar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₹18,761,481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₹117,885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₹18,579,365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Apr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₹18,579,365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₹116,740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₹18,396,105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May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₹18,396,105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₹115,589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₹18,211,694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Jun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₹18,211,694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₹114,430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₹18,026,124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Jul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₹18,026,124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₹113,264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₹17,839,389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Aug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₹17,839,389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₹112,091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₹17,651,479</a:t>
                      </a:r>
                    </a:p>
                  </a:txBody>
                  <a:tcPr/>
                </a:tc>
              </a:tr>
              <a:tr h="174323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Sep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₹17,651,479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₹110,910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₹17,462,390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Month-wise summary (part 2/3)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179576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470"/>
                <a:gridCol w="1474470"/>
                <a:gridCol w="1474470"/>
                <a:gridCol w="1474470"/>
                <a:gridCol w="1474470"/>
                <a:gridCol w="1474470"/>
                <a:gridCol w="1474470"/>
                <a:gridCol w="1474470"/>
              </a:tblGrid>
              <a:tr h="174307"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Disb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Prepay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Closing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Oct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₹17,462,390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₹109,722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₹16,772,112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Nov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₹16,772,112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₹105,385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₹16,577,496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Dec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₹16,577,496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₹104,162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₹16,381,658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Jan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₹16,381,658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₹102,931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₹16,184,590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Feb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₹16,184,590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₹101,693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₹15,886,283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Mar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₹15,886,283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₹99,819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₹15,686,102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Apr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₹15,686,102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₹98,561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₹15,484,663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May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₹15,484,663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₹97,295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₹15,281,958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Jun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₹15,281,958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₹96,022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₹15,077,980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Jul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₹15,077,980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₹94,740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₹14,872,720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Aug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₹14,872,720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₹93,450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₹14,666,170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Sep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₹14,666,170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₹92,152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₹14,458,322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Oct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₹14,458,322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₹90,846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₹13,749,169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Nov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₹13,749,169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₹86,391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₹13,535,559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Dec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₹13,535,559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₹85,048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₹13,320,608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Jan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₹13,320,608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₹83,698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₹13,104,306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Feb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₹13,104,306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₹82,339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₹12,786,644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Mar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₹12,786,644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₹80,343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₹12,566,987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Apr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₹12,566,987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₹78,963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₹12,345,950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May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₹12,345,950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₹77,574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₹12,123,523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Jun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₹12,123,523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₹76,176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₹11,899,700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Jul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₹11,899,700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₹74,770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₹11,674,469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Aug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₹11,674,469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₹73,355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₹11,447,824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Sep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₹11,447,824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₹71,930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₹11,219,754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Oct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₹11,219,754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₹70,497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₹10,490,252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Nov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₹10,490,252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₹65,914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₹10,256,166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Dec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₹10,256,166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₹64,443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₹10,020,609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Jan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₹10,020,609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₹62,963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₹9,783,571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Feb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₹9,783,571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₹61,473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₹9,445,045</a:t>
                      </a:r>
                    </a:p>
                  </a:txBody>
                  <a:tcPr/>
                </a:tc>
              </a:tr>
              <a:tr h="174307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Mar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₹9,445,045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₹59,346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₹9,204,391</a:t>
                      </a:r>
                    </a:p>
                  </a:txBody>
                  <a:tcPr/>
                </a:tc>
              </a:tr>
              <a:tr h="174323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Apr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₹9,204,391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₹57,834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₹8,962,225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Month-wise summary (part 3/3)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179576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470"/>
                <a:gridCol w="1474470"/>
                <a:gridCol w="1474470"/>
                <a:gridCol w="1474470"/>
                <a:gridCol w="1474470"/>
                <a:gridCol w="1474470"/>
                <a:gridCol w="1474470"/>
                <a:gridCol w="1474470"/>
              </a:tblGrid>
              <a:tr h="185928"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Disb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Prepay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800"/>
                      </a:pPr>
                      <a:r>
                        <a:t>Closing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May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₹8,962,225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₹56,313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₹8,718,538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Jun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₹8,718,538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₹54,781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₹8,473,320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Jul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₹8,473,320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₹53,241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₹8,226,560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Aug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₹8,226,560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₹51,690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₹7,978,250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Sep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₹7,978,250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₹50,130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₹7,728,380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Oct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₹7,728,380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₹6,976,940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Nov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₹6,976,940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₹43,838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₹6,720,779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₹6,720,779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₹42,229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₹6,463,008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Jan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₹6,463,008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₹40,609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₹6,203,617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Feb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₹6,203,617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₹38,979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₹5,842,596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Mar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₹5,842,596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₹36,711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₹5,579,307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Apr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₹5,579,307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₹35,057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₹5,314,364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May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₹5,314,364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₹33,392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₹5,047,756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Jun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₹5,047,756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₹31,717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₹4,779,473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Jul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₹4,779,473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₹30,031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₹4,509,504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Aug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₹4,509,504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₹28,335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₹4,237,838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Sep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₹4,237,838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₹26,628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₹3,964,466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Oct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₹3,964,466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₹24,910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₹3,189,376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Nov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₹3,189,376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₹20,040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₹2,909,416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Dec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₹2,909,416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₹18,281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₹2,627,697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Jan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₹2,627,697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₹16,511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₹2,344,208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Feb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₹2,344,208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₹14,729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₹1,958,937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Mar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₹1,958,937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₹12,309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₹1,671,246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Apr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₹1,671,246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₹10,501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₹1,381,747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May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₹1,381,747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₹8,682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₹1,090,429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Jun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₹1,090,429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₹6,852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₹797,280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Jul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₹797,280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₹502,290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Aug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₹502,290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₹3,156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₹205,446</a:t>
                      </a:r>
                    </a:p>
                  </a:txBody>
                  <a:tcPr/>
                </a:tc>
              </a:tr>
              <a:tr h="18592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Sep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₹205,446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₹1,291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₹206,737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₹0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Year-wise summary (calendar year)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Closing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EMI paid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Prepay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Disb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₹12,694,433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₹894,433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₹2,700,000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₹15,000,000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₹12,694,433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₹9,345,554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₹851,121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₹9,345,554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₹16,381,658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₹1,236,104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₹10,000,000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₹16,381,658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₹13,320,608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₹1,138,950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₹13,320,608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₹10,020,609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₹900,001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₹10,020,609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₹6,463,008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₹642,399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₹6,463,008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₹2,627,697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₹364,689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₹2,627,697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₹79,040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₹2,606,737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EMI: ₹3,00,000/month from Apr 2026.</a:t>
            </a:r>
          </a:p>
          <a:p>
            <a:pPr>
              <a:defRPr sz="1800"/>
            </a:pPr>
            <a:r>
              <a:t>Every Feb: prepay ₹1,00,000 immediately.</a:t>
            </a:r>
          </a:p>
          <a:p>
            <a:pPr>
              <a:defRPr sz="1800"/>
            </a:pPr>
            <a:r>
              <a:t>Every Oct: prepay ₹5,00,000 immediately.</a:t>
            </a:r>
          </a:p>
          <a:p>
            <a:pPr>
              <a:defRPr sz="1800"/>
            </a:pPr>
            <a:r>
              <a:t>Request TENURE REDUCTION for every part-prepayment.</a:t>
            </a:r>
          </a:p>
          <a:p>
            <a:pPr>
              <a:defRPr sz="1800"/>
            </a:pPr>
            <a:r>
              <a:t>Expected closure: Sep 2033 (month 91).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