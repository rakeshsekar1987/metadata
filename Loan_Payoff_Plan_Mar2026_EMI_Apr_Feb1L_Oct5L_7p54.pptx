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Loan payoff plan (updated bonuses)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Start: Mar 2026 | EMI ₹3,00,000/month starts Apr 2026 | Prepay: ₹1,00,000 every Feb + ₹5,00,000 every Oct | Disbursal: ₹1.5Cr now, +₹1Cr in Mar 2028 | Rate 7.54% p.a.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Interest rate: 7.54% p.a. (monthly reducing)</a:t>
            </a:r>
          </a:p>
          <a:p>
            <a:pPr>
              <a:defRPr sz="1800"/>
            </a:pPr>
            <a:r>
              <a:t>Disbursal: ₹1.5Cr in Mar 2026, +₹1Cr in Mar 2028</a:t>
            </a:r>
          </a:p>
          <a:p>
            <a:pPr>
              <a:defRPr sz="1800"/>
            </a:pPr>
            <a:r>
              <a:t>EMI: ₹3,00,000/month starting Apr 2026</a:t>
            </a:r>
          </a:p>
          <a:p>
            <a:pPr>
              <a:defRPr sz="1800"/>
            </a:pPr>
            <a:r>
              <a:t>Prepayments: ₹1,00,000 each Feb + ₹5,00,000 each Oct (after EMI)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Projected closure: Sep 2033 (month 91) ≈ 7.58 years</a:t>
            </a:r>
          </a:p>
          <a:p>
            <a:pPr>
              <a:defRPr sz="1800"/>
            </a:pPr>
            <a:r>
              <a:t>Total principal: ₹25,000,000</a:t>
            </a:r>
          </a:p>
          <a:p>
            <a:pPr>
              <a:defRPr sz="1800"/>
            </a:pPr>
            <a:r>
              <a:t>Total paid (EMI + prepay): ₹31,106,737</a:t>
            </a:r>
          </a:p>
          <a:p>
            <a:pPr>
              <a:defRPr sz="1800"/>
            </a:pPr>
            <a:r>
              <a:t>Total interest paid (approx.): ₹6,106,737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Outstanding balance trajectory</a:t>
            </a:r>
          </a:p>
        </p:txBody>
      </p:sp>
      <p:pic>
        <p:nvPicPr>
          <p:cNvPr id="3" name="Picture 2" descr="outstanding_balanc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972800" cy="5266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(Feb/Oct prepayments + disbursal)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2794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Prepay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Closing bal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₹86,985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₹13,130,790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₹78,380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₹12,152,576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₹66,335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₹9,823,601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₹57,205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₹8,761,481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₹117,885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₹18,579,365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₹109,722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₹16,772,112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₹101,693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₹15,886,283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₹90,846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₹13,749,169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₹82,339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₹12,786,644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₹70,497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₹10,490,252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₹82,339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₹12,786,644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₹70,497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₹10,490,252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₹61,473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₹9,445,045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₹48,560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₹6,976,940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₹38,979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₹5,842,596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₹24,910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₹3,189,376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₹14,729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₹1,958,937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Year-wise summary (calendar year)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5588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Opening 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Closing 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EMI paid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Prepay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Disb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₹12,694,433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₹894,433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₹2,700,000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₹15,000,000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₹12,694,433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₹9,345,554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₹851,121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₹9,345,554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₹16,381,658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₹1,236,104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₹10,000,000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₹16,381,658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₹13,320,608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₹1,138,950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₹13,320,608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₹10,020,609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₹900,001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₹10,020,609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₹6,463,008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₹642,399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₹6,463,008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₹2,627,697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₹364,689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₹2,627,697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₹79,040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₹2,606,737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Standing instruction: ₹3,00,000 EMI from Apr 2026.</a:t>
            </a:r>
          </a:p>
          <a:p>
            <a:pPr>
              <a:defRPr sz="1800"/>
            </a:pPr>
            <a:r>
              <a:t>Every Feb: prepay ₹1,00,000 immediately.</a:t>
            </a:r>
          </a:p>
          <a:p>
            <a:pPr>
              <a:defRPr sz="1800"/>
            </a:pPr>
            <a:r>
              <a:t>Every Oct: prepay ₹5,00,000 immediately.</a:t>
            </a:r>
          </a:p>
          <a:p>
            <a:pPr>
              <a:defRPr sz="1800"/>
            </a:pPr>
            <a:r>
              <a:t>For every prepayment, request TENURE REDUCTION (not EMI reduction).</a:t>
            </a:r>
          </a:p>
          <a:p>
            <a:pPr>
              <a:defRPr sz="1800"/>
            </a:pPr>
            <a:r>
              <a:t>Expected closure: Sep 2033 (month 91).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