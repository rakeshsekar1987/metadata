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payoff plan (staged disbursal)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₹1.5Cr in Mar 2026, +₹1Cr in Mar 2028 | EMI cap ₹3,00,000/month | Prepay ₹5,00,000 every Oct | Rate 7.54% p.a.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Interest rate: 7.54% p.a. (monthly reducing)</a:t>
            </a:r>
          </a:p>
          <a:p>
            <a:pPr>
              <a:defRPr sz="1800"/>
            </a:pPr>
            <a:r>
              <a:t>Disbursal: ₹1.5Cr at start, +₹1Cr at start of Year 3 (Mar 2028)</a:t>
            </a:r>
          </a:p>
          <a:p>
            <a:pPr>
              <a:defRPr sz="1800"/>
            </a:pPr>
            <a:r>
              <a:t>Payment: ₹3,00,000 every month from Mar 2026</a:t>
            </a:r>
          </a:p>
          <a:p>
            <a:pPr>
              <a:defRPr sz="1800"/>
            </a:pPr>
            <a:r>
              <a:t>Prepayment: ₹5,00,000 each October (applied after EMI)</a:t>
            </a:r>
          </a:p>
          <a:p>
            <a:pPr>
              <a:defRPr sz="1800"/>
            </a:pPr>
            <a:r>
              <a:t>No other extra payments assumed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Loan closes in month 92 (Oct 2033) ≈ 7.67 years</a:t>
            </a:r>
          </a:p>
          <a:p>
            <a:pPr>
              <a:defRPr sz="1800"/>
            </a:pPr>
            <a:r>
              <a:t>With the same caps and rate, closing within 7 years is not possible</a:t>
            </a:r>
          </a:p>
          <a:p>
            <a:pPr>
              <a:defRPr sz="1800"/>
            </a:pPr>
            <a:r>
              <a:t>Total principal: ₹25,000,000</a:t>
            </a:r>
          </a:p>
          <a:p>
            <a:pPr>
              <a:defRPr sz="1800"/>
            </a:pPr>
            <a:r>
              <a:t>Total paid (EMI + Oct prepay): ₹31,108,254</a:t>
            </a:r>
          </a:p>
          <a:p>
            <a:pPr>
              <a:defRPr sz="1800"/>
            </a:pPr>
            <a:r>
              <a:t>Total interest paid (approx.): ₹6,108,254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Outstanding balance trajectory</a:t>
            </a:r>
          </a:p>
        </p:txBody>
      </p:sp>
      <p:pic>
        <p:nvPicPr>
          <p:cNvPr id="3" name="Picture 2" descr="outstanding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72800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(Oct bonuses + disbursal + checkpoints)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314325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Oct prepay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Closing bal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₹85,028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₹12,817,343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₹76,373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₹11,931,177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₹64,881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₹9,590,826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₹55,715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₹8,622,799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₹117,013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₹18,439,812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₹108,812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₹16,626,304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₹100,760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₹15,836,776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₹90,521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₹13,697,118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₹82,005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₹12,833,273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₹61,787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₹9,595,313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₹49,546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₹7,134,930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₹39,991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₹6,104,595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₹26,630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₹3,464,838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₹2,341,387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 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₹1,925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₹8,254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Year-wise summary (calendar year)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Opening 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Closing 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EMI paid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Oct prepay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Disb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₹12,377,036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₹877,036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₹15,000,000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₹12,377,036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₹9,109,844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₹832,808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₹9,109,844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₹16,234,012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₹1,224,168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₹10,000,000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₹16,234,012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₹13,267,901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₹1,133,888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₹13,267,901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₹10,070,251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₹902,350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₹10,070,251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₹6,622,989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₹652,738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₹6,622,989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₹2,906,631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₹383,642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₹2,906,631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₹101,623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₹3,000,000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₹8,254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₹0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this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Set standing instruction for ₹3,00,000/month from Mar 2026.</a:t>
            </a:r>
          </a:p>
          <a:p>
            <a:pPr>
              <a:defRPr sz="1800"/>
            </a:pPr>
            <a:r>
              <a:t>Each Oct, make ₹5,00,000 part-prepayment immediately.</a:t>
            </a:r>
          </a:p>
          <a:p>
            <a:pPr>
              <a:defRPr sz="1800"/>
            </a:pPr>
            <a:r>
              <a:t>When part-prepaying, request TENURE REDUCTION (not EMI reduction).</a:t>
            </a:r>
          </a:p>
          <a:p>
            <a:pPr>
              <a:defRPr sz="1800"/>
            </a:pPr>
            <a:r>
              <a:t>Expected closure: Oct 2033 (month 92).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